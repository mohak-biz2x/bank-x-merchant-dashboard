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1" r:id="rId4"/>
    <p:sldId id="257" r:id="rId5"/>
    <p:sldId id="262" r:id="rId6"/>
    <p:sldId id="259" r:id="rId7"/>
    <p:sldId id="26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3017520"/>
            <a:ext cx="9418320" cy="1292662"/>
          </a:xfrm>
          <a:prstGeom prst="rect">
            <a:avLst/>
          </a:prstGeom>
          <a:noFill/>
        </p:spPr>
        <p:txBody>
          <a:bodyPr wrap="square">
            <a:spAutoFit/>
          </a:bodyPr>
          <a:lstStyle/>
          <a:p>
            <a:pPr algn="ctr">
              <a:defRPr sz="4400" b="1">
                <a:solidFill>
                  <a:srgbClr val="FFFFFF"/>
                </a:solidFill>
              </a:defRPr>
            </a:pPr>
            <a:r>
              <a:rPr lang="en-IN" dirty="0"/>
              <a:t>June</a:t>
            </a:r>
            <a:r>
              <a:rPr dirty="0"/>
              <a:t> 1</a:t>
            </a:r>
            <a:r>
              <a:rPr lang="en-IN" dirty="0"/>
              <a:t>0th</a:t>
            </a:r>
            <a:r>
              <a:rPr dirty="0"/>
              <a:t> Demo</a:t>
            </a:r>
          </a:p>
          <a:p>
            <a:pPr algn="ctr">
              <a:spcBef>
                <a:spcPts val="1200"/>
              </a:spcBef>
              <a:defRPr sz="2400">
                <a:solidFill>
                  <a:srgbClr val="98CF95"/>
                </a:solidFill>
              </a:defRPr>
            </a:pPr>
            <a:r>
              <a:rPr dirty="0"/>
              <a:t>Scope, Structure &amp; Known Points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98CF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91695" cy="10515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20840"/>
            <a:ext cx="12191695" cy="1371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355610"/>
            <a:ext cx="8686800" cy="523220"/>
          </a:xfrm>
          <a:prstGeom prst="rect">
            <a:avLst/>
          </a:prstGeom>
          <a:noFill/>
        </p:spPr>
        <p:txBody>
          <a:bodyPr wrap="square" anchor="ctr">
            <a:spAutoFit/>
          </a:bodyPr>
          <a:lstStyle/>
          <a:p>
            <a:pPr>
              <a:defRPr sz="2800" b="1">
                <a:solidFill>
                  <a:srgbClr val="FFFFFF"/>
                </a:solidFill>
              </a:defRPr>
            </a:pPr>
            <a:r>
              <a:rPr dirty="0"/>
              <a:t>Demo Structure</a:t>
            </a:r>
            <a:r>
              <a:rPr lang="en-IN" dirty="0"/>
              <a:t> – Non-STP</a:t>
            </a:r>
            <a:endParaRPr dirty="0"/>
          </a:p>
        </p:txBody>
      </p:sp>
      <p:pic>
        <p:nvPicPr>
          <p:cNvPr id="13" name="Graphic 12">
            <a:extLst>
              <a:ext uri="{FF2B5EF4-FFF2-40B4-BE49-F238E27FC236}">
                <a16:creationId xmlns:a16="http://schemas.microsoft.com/office/drawing/2014/main" id="{2B189D44-D81E-D203-6C1E-4FCC6833B85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193963" y="6084570"/>
            <a:ext cx="1733550" cy="476250"/>
          </a:xfrm>
          <a:prstGeom prst="rect">
            <a:avLst/>
          </a:prstGeom>
        </p:spPr>
      </p:pic>
      <p:pic>
        <p:nvPicPr>
          <p:cNvPr id="7" name="Picture 6">
            <a:extLst>
              <a:ext uri="{FF2B5EF4-FFF2-40B4-BE49-F238E27FC236}">
                <a16:creationId xmlns:a16="http://schemas.microsoft.com/office/drawing/2014/main" id="{EE9DEF33-35F7-D21A-F246-608AF46AFCF7}"/>
              </a:ext>
            </a:extLst>
          </p:cNvPr>
          <p:cNvPicPr>
            <a:picLocks noChangeAspect="1"/>
          </p:cNvPicPr>
          <p:nvPr/>
        </p:nvPicPr>
        <p:blipFill>
          <a:blip r:embed="rId3"/>
          <a:stretch>
            <a:fillRect/>
          </a:stretch>
        </p:blipFill>
        <p:spPr>
          <a:xfrm>
            <a:off x="-117986" y="1161288"/>
            <a:ext cx="12431084" cy="55138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3FDE6-9CEC-4274-B147-9CC3D7D19B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D653CC-F23D-A53F-F762-E631A41E263B}"/>
              </a:ext>
            </a:extLst>
          </p:cNvPr>
          <p:cNvSpPr/>
          <p:nvPr/>
        </p:nvSpPr>
        <p:spPr>
          <a:xfrm>
            <a:off x="0" y="0"/>
            <a:ext cx="12191695" cy="73152"/>
          </a:xfrm>
          <a:prstGeom prst="rect">
            <a:avLst/>
          </a:prstGeom>
          <a:solidFill>
            <a:srgbClr val="98CF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E4E4866-7C99-C83E-B0EF-843E694347A1}"/>
              </a:ext>
            </a:extLst>
          </p:cNvPr>
          <p:cNvSpPr/>
          <p:nvPr/>
        </p:nvSpPr>
        <p:spPr>
          <a:xfrm>
            <a:off x="0" y="73152"/>
            <a:ext cx="12191695" cy="10515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AD47D73E-ECAC-B292-0EB0-20496036EC1F}"/>
              </a:ext>
            </a:extLst>
          </p:cNvPr>
          <p:cNvSpPr/>
          <p:nvPr/>
        </p:nvSpPr>
        <p:spPr>
          <a:xfrm>
            <a:off x="0" y="6720840"/>
            <a:ext cx="12191695" cy="1371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77D4E8C-BAC1-16D5-3BA2-0B5B768EA387}"/>
              </a:ext>
            </a:extLst>
          </p:cNvPr>
          <p:cNvSpPr txBox="1"/>
          <p:nvPr/>
        </p:nvSpPr>
        <p:spPr>
          <a:xfrm>
            <a:off x="548640" y="355610"/>
            <a:ext cx="8686800" cy="523220"/>
          </a:xfrm>
          <a:prstGeom prst="rect">
            <a:avLst/>
          </a:prstGeom>
          <a:noFill/>
        </p:spPr>
        <p:txBody>
          <a:bodyPr wrap="square" anchor="ctr">
            <a:spAutoFit/>
          </a:bodyPr>
          <a:lstStyle/>
          <a:p>
            <a:pPr>
              <a:defRPr sz="2800" b="1">
                <a:solidFill>
                  <a:srgbClr val="FFFFFF"/>
                </a:solidFill>
              </a:defRPr>
            </a:pPr>
            <a:r>
              <a:rPr dirty="0"/>
              <a:t>Demo Structure</a:t>
            </a:r>
            <a:r>
              <a:rPr lang="en-IN" dirty="0"/>
              <a:t> – STP</a:t>
            </a:r>
            <a:endParaRPr dirty="0"/>
          </a:p>
        </p:txBody>
      </p:sp>
      <p:pic>
        <p:nvPicPr>
          <p:cNvPr id="13" name="Graphic 12">
            <a:extLst>
              <a:ext uri="{FF2B5EF4-FFF2-40B4-BE49-F238E27FC236}">
                <a16:creationId xmlns:a16="http://schemas.microsoft.com/office/drawing/2014/main" id="{8B947A21-4516-746B-960F-F130B11D53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193963" y="6084570"/>
            <a:ext cx="1733550" cy="476250"/>
          </a:xfrm>
          <a:prstGeom prst="rect">
            <a:avLst/>
          </a:prstGeom>
        </p:spPr>
      </p:pic>
      <p:pic>
        <p:nvPicPr>
          <p:cNvPr id="10" name="Picture 9">
            <a:extLst>
              <a:ext uri="{FF2B5EF4-FFF2-40B4-BE49-F238E27FC236}">
                <a16:creationId xmlns:a16="http://schemas.microsoft.com/office/drawing/2014/main" id="{D0432A80-9417-4638-2754-93506A8B8238}"/>
              </a:ext>
            </a:extLst>
          </p:cNvPr>
          <p:cNvPicPr>
            <a:picLocks noChangeAspect="1"/>
          </p:cNvPicPr>
          <p:nvPr/>
        </p:nvPicPr>
        <p:blipFill>
          <a:blip r:embed="rId3"/>
          <a:stretch>
            <a:fillRect/>
          </a:stretch>
        </p:blipFill>
        <p:spPr>
          <a:xfrm>
            <a:off x="0" y="1736814"/>
            <a:ext cx="12192000" cy="3816991"/>
          </a:xfrm>
          <a:prstGeom prst="rect">
            <a:avLst/>
          </a:prstGeom>
        </p:spPr>
      </p:pic>
    </p:spTree>
    <p:extLst>
      <p:ext uri="{BB962C8B-B14F-4D97-AF65-F5344CB8AC3E}">
        <p14:creationId xmlns:p14="http://schemas.microsoft.com/office/powerpoint/2010/main" val="2761521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98CF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91695" cy="10515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20840"/>
            <a:ext cx="12191695" cy="1371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
            <a:ext cx="8686800" cy="868680"/>
          </a:xfrm>
          <a:prstGeom prst="rect">
            <a:avLst/>
          </a:prstGeom>
          <a:noFill/>
        </p:spPr>
        <p:txBody>
          <a:bodyPr wrap="square" anchor="ctr">
            <a:spAutoFit/>
          </a:bodyPr>
          <a:lstStyle/>
          <a:p>
            <a:pPr>
              <a:defRPr sz="2800" b="1">
                <a:solidFill>
                  <a:srgbClr val="FFFFFF"/>
                </a:solidFill>
              </a:defRPr>
            </a:pPr>
            <a:r>
              <a:t>Scope of May 21st Demo</a:t>
            </a:r>
          </a:p>
        </p:txBody>
      </p:sp>
      <p:sp>
        <p:nvSpPr>
          <p:cNvPr id="7" name="TextBox 6"/>
          <p:cNvSpPr txBox="1"/>
          <p:nvPr/>
        </p:nvSpPr>
        <p:spPr>
          <a:xfrm>
            <a:off x="548640" y="1371600"/>
            <a:ext cx="11064240" cy="4314001"/>
          </a:xfrm>
          <a:prstGeom prst="rect">
            <a:avLst/>
          </a:prstGeom>
          <a:noFill/>
        </p:spPr>
        <p:txBody>
          <a:bodyPr wrap="square">
            <a:spAutoFit/>
          </a:bodyPr>
          <a:lstStyle/>
          <a:p>
            <a:pPr>
              <a:spcAft>
                <a:spcPts val="400"/>
              </a:spcAft>
              <a:defRPr sz="1600" b="1">
                <a:solidFill>
                  <a:srgbClr val="036836"/>
                </a:solidFill>
              </a:defRPr>
            </a:pPr>
            <a:r>
              <a:rPr lang="en-IN" dirty="0"/>
              <a:t>Non-STP Flow</a:t>
            </a:r>
            <a:endParaRPr dirty="0"/>
          </a:p>
          <a:p>
            <a:pPr marL="285750" indent="-285750">
              <a:spcAft>
                <a:spcPts val="800"/>
              </a:spcAft>
              <a:buFont typeface="Arial" panose="020B0604020202020204" pitchFamily="34" charset="0"/>
              <a:buChar char="•"/>
              <a:defRPr sz="1300"/>
            </a:pPr>
            <a:r>
              <a:rPr lang="en-US" b="1" dirty="0"/>
              <a:t>Application Submission </a:t>
            </a:r>
            <a:r>
              <a:rPr lang="en-US" dirty="0"/>
              <a:t>— Customer Journey--&gt;Bank Statements--&gt;Financial Statement Upload--&gt;IBAN Verification--Review and Submit.</a:t>
            </a:r>
          </a:p>
          <a:p>
            <a:pPr marL="285750" indent="-285750">
              <a:spcAft>
                <a:spcPts val="800"/>
              </a:spcAft>
              <a:buFont typeface="Arial" panose="020B0604020202020204" pitchFamily="34" charset="0"/>
              <a:buChar char="•"/>
              <a:defRPr sz="1300"/>
            </a:pPr>
            <a:r>
              <a:rPr lang="en-US" b="1" dirty="0"/>
              <a:t>Banker Portal Processing </a:t>
            </a:r>
            <a:r>
              <a:rPr lang="en-US" dirty="0"/>
              <a:t>— Move the application through all stages in the banker portal; review analysis.</a:t>
            </a:r>
          </a:p>
          <a:p>
            <a:pPr marL="285750" indent="-285750">
              <a:spcAft>
                <a:spcPts val="800"/>
              </a:spcAft>
              <a:buFont typeface="Arial" panose="020B0604020202020204" pitchFamily="34" charset="0"/>
              <a:buChar char="•"/>
              <a:defRPr sz="1300"/>
            </a:pPr>
            <a:r>
              <a:rPr lang="en-US" b="1" dirty="0"/>
              <a:t>CAM &amp; Agreements </a:t>
            </a:r>
            <a:r>
              <a:rPr lang="en-US" dirty="0"/>
              <a:t>— Generate the CAM to record the banker's decision, then generate and send agreements for e-sign.</a:t>
            </a:r>
          </a:p>
          <a:p>
            <a:pPr marL="285750" indent="-285750">
              <a:spcAft>
                <a:spcPts val="800"/>
              </a:spcAft>
              <a:buFont typeface="Arial" panose="020B0604020202020204" pitchFamily="34" charset="0"/>
              <a:buChar char="•"/>
              <a:defRPr sz="1300"/>
            </a:pPr>
            <a:r>
              <a:rPr lang="en-US" b="1" dirty="0"/>
              <a:t>Customer Agreements &amp; E-Sign </a:t>
            </a:r>
            <a:r>
              <a:rPr lang="en-US" dirty="0"/>
              <a:t>— Walk through the agreements flow on the customer portal, including embedded e-sign and DDS.SPDC Flow — Customer uploads a cheque; banker reviews and approves the SPDC.</a:t>
            </a:r>
          </a:p>
          <a:p>
            <a:pPr marL="285750" indent="-285750">
              <a:spcAft>
                <a:spcPts val="800"/>
              </a:spcAft>
              <a:buFont typeface="Arial" panose="020B0604020202020204" pitchFamily="34" charset="0"/>
              <a:buChar char="•"/>
              <a:defRPr sz="1300"/>
            </a:pPr>
            <a:r>
              <a:rPr lang="en-US" b="1" dirty="0"/>
              <a:t>Servicing &amp; Drawdown </a:t>
            </a:r>
            <a:r>
              <a:rPr lang="en-US" dirty="0"/>
              <a:t>— Banker sends the case to servicing and enables drawdown.</a:t>
            </a:r>
          </a:p>
          <a:p>
            <a:pPr marL="285750" indent="-285750">
              <a:spcAft>
                <a:spcPts val="800"/>
              </a:spcAft>
              <a:buFont typeface="Arial" panose="020B0604020202020204" pitchFamily="34" charset="0"/>
              <a:buChar char="•"/>
              <a:defRPr sz="1300"/>
            </a:pPr>
            <a:r>
              <a:rPr lang="en-US" b="1" dirty="0"/>
              <a:t>Invoice Upload &amp; Validation </a:t>
            </a:r>
            <a:r>
              <a:rPr lang="en-US" dirty="0"/>
              <a:t>— Customer uploads invoices. Observe invoice validation rules and pricing.</a:t>
            </a:r>
          </a:p>
          <a:p>
            <a:pPr marL="285750" indent="-285750">
              <a:spcAft>
                <a:spcPts val="800"/>
              </a:spcAft>
              <a:buFont typeface="Arial" panose="020B0604020202020204" pitchFamily="34" charset="0"/>
              <a:buChar char="•"/>
              <a:defRPr sz="1300"/>
            </a:pPr>
            <a:r>
              <a:rPr lang="en-US" b="1" dirty="0"/>
              <a:t>All-Approved Group </a:t>
            </a:r>
            <a:r>
              <a:rPr lang="en-US" dirty="0"/>
              <a:t>— Observe a case where all invoices in a group are approved and the group is sent directly for Murabaha contract execution and to LMS for disbursement.</a:t>
            </a:r>
          </a:p>
          <a:p>
            <a:pPr marL="285750" indent="-285750">
              <a:spcAft>
                <a:spcPts val="800"/>
              </a:spcAft>
              <a:buFont typeface="Arial" panose="020B0604020202020204" pitchFamily="34" charset="0"/>
              <a:buChar char="•"/>
              <a:defRPr sz="1300"/>
            </a:pPr>
            <a:r>
              <a:rPr lang="en-US" b="1" dirty="0"/>
              <a:t>LMS Disbursement </a:t>
            </a:r>
            <a:r>
              <a:rPr lang="en-US" dirty="0"/>
              <a:t>— Maker creates a disbursement request; checker initiates disbursement from LMS.LMS will disburse the entire group of invoices, and each invoice will become due on the 30th day along with the principal amount and processing fee. Payments collected will be used to monitor and adjust the limit accordingly, increasing or decreasing it as applicable.</a:t>
            </a:r>
          </a:p>
          <a:p>
            <a:pPr marL="285750" indent="-285750">
              <a:spcAft>
                <a:spcPts val="800"/>
              </a:spcAft>
              <a:buFont typeface="Arial" panose="020B0604020202020204" pitchFamily="34" charset="0"/>
              <a:buChar char="•"/>
              <a:defRPr sz="1300"/>
            </a:pPr>
            <a:r>
              <a:rPr lang="en-US" b="1" dirty="0"/>
              <a:t>Mixed-Decision Group </a:t>
            </a:r>
            <a:r>
              <a:rPr lang="en-US" dirty="0"/>
              <a:t>— Observe a case where some invoices in a group are referred or rejected. The group is sent first for banker review, then for Murabaha contract execution and to LMS for disbursement.</a:t>
            </a:r>
          </a:p>
          <a:p>
            <a:pPr marL="285750" indent="-285750">
              <a:spcAft>
                <a:spcPts val="800"/>
              </a:spcAft>
              <a:buFont typeface="Arial" panose="020B0604020202020204" pitchFamily="34" charset="0"/>
              <a:buChar char="•"/>
              <a:defRPr sz="1300"/>
            </a:pPr>
            <a:r>
              <a:rPr lang="en-US" b="1" dirty="0"/>
              <a:t>Disbursed Status Update </a:t>
            </a:r>
            <a:r>
              <a:rPr lang="en-US" dirty="0"/>
              <a:t>— Observe the status update sent from LMS to MOS confirming disbursement.</a:t>
            </a:r>
          </a:p>
        </p:txBody>
      </p:sp>
      <p:pic>
        <p:nvPicPr>
          <p:cNvPr id="8" name="Graphic 7">
            <a:extLst>
              <a:ext uri="{FF2B5EF4-FFF2-40B4-BE49-F238E27FC236}">
                <a16:creationId xmlns:a16="http://schemas.microsoft.com/office/drawing/2014/main" id="{9C2B6508-6CBC-17F3-71F7-6C595C0240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193963" y="6084570"/>
            <a:ext cx="1733550" cy="476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42826-527E-45A3-602D-01BCA30C859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E01974-DA28-9BFC-C294-27276E24FA7F}"/>
              </a:ext>
            </a:extLst>
          </p:cNvPr>
          <p:cNvSpPr/>
          <p:nvPr/>
        </p:nvSpPr>
        <p:spPr>
          <a:xfrm>
            <a:off x="0" y="0"/>
            <a:ext cx="12191695" cy="73152"/>
          </a:xfrm>
          <a:prstGeom prst="rect">
            <a:avLst/>
          </a:prstGeom>
          <a:solidFill>
            <a:srgbClr val="98CF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A6A74B7-9A72-3442-9744-FBBB95BCC32B}"/>
              </a:ext>
            </a:extLst>
          </p:cNvPr>
          <p:cNvSpPr/>
          <p:nvPr/>
        </p:nvSpPr>
        <p:spPr>
          <a:xfrm>
            <a:off x="0" y="73152"/>
            <a:ext cx="12191695" cy="10515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403001C5-1BD4-1D21-C316-7868493973A3}"/>
              </a:ext>
            </a:extLst>
          </p:cNvPr>
          <p:cNvSpPr/>
          <p:nvPr/>
        </p:nvSpPr>
        <p:spPr>
          <a:xfrm>
            <a:off x="0" y="6720840"/>
            <a:ext cx="12191695" cy="1371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D2A7785-19E8-DD05-6C49-EDD7685503C9}"/>
              </a:ext>
            </a:extLst>
          </p:cNvPr>
          <p:cNvSpPr txBox="1"/>
          <p:nvPr/>
        </p:nvSpPr>
        <p:spPr>
          <a:xfrm>
            <a:off x="548640" y="182880"/>
            <a:ext cx="8686800" cy="868680"/>
          </a:xfrm>
          <a:prstGeom prst="rect">
            <a:avLst/>
          </a:prstGeom>
          <a:noFill/>
        </p:spPr>
        <p:txBody>
          <a:bodyPr wrap="square" anchor="ctr">
            <a:spAutoFit/>
          </a:bodyPr>
          <a:lstStyle/>
          <a:p>
            <a:pPr>
              <a:defRPr sz="2800" b="1">
                <a:solidFill>
                  <a:srgbClr val="FFFFFF"/>
                </a:solidFill>
              </a:defRPr>
            </a:pPr>
            <a:r>
              <a:t>Scope of May 21st Demo</a:t>
            </a:r>
          </a:p>
        </p:txBody>
      </p:sp>
      <p:sp>
        <p:nvSpPr>
          <p:cNvPr id="7" name="TextBox 6">
            <a:extLst>
              <a:ext uri="{FF2B5EF4-FFF2-40B4-BE49-F238E27FC236}">
                <a16:creationId xmlns:a16="http://schemas.microsoft.com/office/drawing/2014/main" id="{D8B25581-354A-58F3-4248-4AE651D49733}"/>
              </a:ext>
            </a:extLst>
          </p:cNvPr>
          <p:cNvSpPr txBox="1"/>
          <p:nvPr/>
        </p:nvSpPr>
        <p:spPr>
          <a:xfrm>
            <a:off x="548640" y="1371600"/>
            <a:ext cx="11064240" cy="1497846"/>
          </a:xfrm>
          <a:prstGeom prst="rect">
            <a:avLst/>
          </a:prstGeom>
          <a:noFill/>
        </p:spPr>
        <p:txBody>
          <a:bodyPr wrap="square">
            <a:spAutoFit/>
          </a:bodyPr>
          <a:lstStyle/>
          <a:p>
            <a:pPr>
              <a:spcAft>
                <a:spcPts val="400"/>
              </a:spcAft>
              <a:defRPr sz="1600" b="1">
                <a:solidFill>
                  <a:srgbClr val="036836"/>
                </a:solidFill>
              </a:defRPr>
            </a:pPr>
            <a:r>
              <a:rPr lang="en-IN" dirty="0"/>
              <a:t>STP Flow</a:t>
            </a:r>
            <a:endParaRPr dirty="0"/>
          </a:p>
          <a:p>
            <a:pPr marL="285750" indent="-285750">
              <a:spcAft>
                <a:spcPts val="800"/>
              </a:spcAft>
              <a:buFont typeface="Arial" panose="020B0604020202020204" pitchFamily="34" charset="0"/>
              <a:buChar char="•"/>
              <a:defRPr sz="1300"/>
            </a:pPr>
            <a:r>
              <a:rPr lang="en-US" b="1" dirty="0"/>
              <a:t>STP Application </a:t>
            </a:r>
            <a:r>
              <a:rPr lang="en-US" dirty="0"/>
              <a:t>— Submit an application that qualifies for STP.</a:t>
            </a:r>
          </a:p>
          <a:p>
            <a:pPr marL="285750" indent="-285750">
              <a:spcAft>
                <a:spcPts val="800"/>
              </a:spcAft>
              <a:buFont typeface="Arial" panose="020B0604020202020204" pitchFamily="34" charset="0"/>
              <a:buChar char="•"/>
              <a:defRPr sz="1300"/>
            </a:pPr>
            <a:r>
              <a:rPr lang="en-US" b="1" dirty="0"/>
              <a:t>Rule Engine </a:t>
            </a:r>
            <a:r>
              <a:rPr lang="en-US" dirty="0"/>
              <a:t>— Observe STP rules executed in the rule engine.</a:t>
            </a:r>
          </a:p>
          <a:p>
            <a:pPr marL="285750" indent="-285750">
              <a:spcAft>
                <a:spcPts val="800"/>
              </a:spcAft>
              <a:buFont typeface="Arial" panose="020B0604020202020204" pitchFamily="34" charset="0"/>
              <a:buChar char="•"/>
              <a:defRPr sz="1300"/>
            </a:pPr>
            <a:r>
              <a:rPr lang="en-US" b="1" dirty="0"/>
              <a:t>Auto-Approval &amp; Agreements </a:t>
            </a:r>
            <a:r>
              <a:rPr lang="en-US" dirty="0"/>
              <a:t>— Application is auto-approved; agreements are auto-generated and sent to the customer.</a:t>
            </a:r>
          </a:p>
          <a:p>
            <a:pPr marL="285750" indent="-285750">
              <a:spcAft>
                <a:spcPts val="800"/>
              </a:spcAft>
              <a:buFont typeface="Arial" panose="020B0604020202020204" pitchFamily="34" charset="0"/>
              <a:buChar char="•"/>
              <a:defRPr sz="1300"/>
            </a:pPr>
            <a:r>
              <a:rPr lang="en-US" b="1" dirty="0"/>
              <a:t>E-Sign &amp; Dashboard </a:t>
            </a:r>
            <a:r>
              <a:rPr lang="en-US" dirty="0"/>
              <a:t>— Customer e-signs agreements. Dashboard is enabled once signing is complete.</a:t>
            </a:r>
          </a:p>
        </p:txBody>
      </p:sp>
      <p:pic>
        <p:nvPicPr>
          <p:cNvPr id="8" name="Graphic 7">
            <a:extLst>
              <a:ext uri="{FF2B5EF4-FFF2-40B4-BE49-F238E27FC236}">
                <a16:creationId xmlns:a16="http://schemas.microsoft.com/office/drawing/2014/main" id="{0A2A6190-4821-D751-4F3E-0EB3D45599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193963" y="6084570"/>
            <a:ext cx="1733550" cy="476250"/>
          </a:xfrm>
          <a:prstGeom prst="rect">
            <a:avLst/>
          </a:prstGeom>
        </p:spPr>
      </p:pic>
    </p:spTree>
    <p:extLst>
      <p:ext uri="{BB962C8B-B14F-4D97-AF65-F5344CB8AC3E}">
        <p14:creationId xmlns:p14="http://schemas.microsoft.com/office/powerpoint/2010/main" val="3796914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98CF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3152"/>
            <a:ext cx="12191695" cy="10515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20840"/>
            <a:ext cx="12191695" cy="13716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
            <a:ext cx="8686800" cy="868680"/>
          </a:xfrm>
          <a:prstGeom prst="rect">
            <a:avLst/>
          </a:prstGeom>
          <a:noFill/>
        </p:spPr>
        <p:txBody>
          <a:bodyPr wrap="square" anchor="ctr">
            <a:spAutoFit/>
          </a:bodyPr>
          <a:lstStyle/>
          <a:p>
            <a:pPr>
              <a:defRPr sz="2800" b="1">
                <a:solidFill>
                  <a:srgbClr val="FFFFFF"/>
                </a:solidFill>
              </a:defRPr>
            </a:pPr>
            <a:r>
              <a:t>Known Points</a:t>
            </a:r>
          </a:p>
        </p:txBody>
      </p:sp>
      <p:pic>
        <p:nvPicPr>
          <p:cNvPr id="8" name="Graphic 7">
            <a:extLst>
              <a:ext uri="{FF2B5EF4-FFF2-40B4-BE49-F238E27FC236}">
                <a16:creationId xmlns:a16="http://schemas.microsoft.com/office/drawing/2014/main" id="{2427059B-5EAA-8349-CF0A-3F1DB6A209F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193963" y="6084570"/>
            <a:ext cx="1733550" cy="4762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3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3200400"/>
            <a:ext cx="9418320" cy="830997"/>
          </a:xfrm>
          <a:prstGeom prst="rect">
            <a:avLst/>
          </a:prstGeom>
          <a:noFill/>
        </p:spPr>
        <p:txBody>
          <a:bodyPr wrap="square">
            <a:spAutoFit/>
          </a:bodyPr>
          <a:lstStyle/>
          <a:p>
            <a:pPr algn="ctr">
              <a:defRPr sz="4800" b="1">
                <a:solidFill>
                  <a:srgbClr val="FFFFFF"/>
                </a:solidFill>
              </a:defRPr>
            </a:pPr>
            <a:r>
              <a:rPr dirty="0"/>
              <a:t>Thank </a:t>
            </a:r>
            <a:r>
              <a:rPr dirty="0" err="1"/>
              <a:t>Yo</a:t>
            </a:r>
            <a:r>
              <a:rPr lang="en-IN" dirty="0"/>
              <a:t>u</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93</TotalTime>
  <Words>364</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Mohak Gupta</cp:lastModifiedBy>
  <cp:revision>8</cp:revision>
  <dcterms:created xsi:type="dcterms:W3CDTF">2013-01-27T09:14:16Z</dcterms:created>
  <dcterms:modified xsi:type="dcterms:W3CDTF">2026-06-09T12:53:41Z</dcterms:modified>
  <cp:category/>
</cp:coreProperties>
</file>